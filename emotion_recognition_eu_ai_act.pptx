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RECOGNITION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Under the EU AI Act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Guide to Compliance &amp; Exceptions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Emotion Recognition?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73152" cy="10972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that identify or infer emotions or intentions of natural persons based on their biometric data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INCLUDES: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926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Facial expression analysis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8328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" y="3383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Voice tone/pitch analysis</a:t>
            </a:r>
            <a:endParaRPr lang="en-US" sz="1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40480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77240" y="3840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Body language inference</a:t>
            </a:r>
            <a:endParaRPr lang="en-US" sz="14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297680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77240" y="4297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Biometric-based emotion detection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4754880" y="2560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EXCLUDES:</a:t>
            </a:r>
            <a:endParaRPr lang="en-US" sz="16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2926080"/>
            <a:ext cx="228600" cy="2286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074920" y="29260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Physical state detection (fatigue, pain)</a:t>
            </a:r>
            <a:endParaRPr lang="en-US" sz="14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3383280"/>
            <a:ext cx="228600" cy="2286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074920" y="33832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Simple smile/frown detection</a:t>
            </a:r>
            <a:endParaRPr lang="en-US" sz="14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3840480"/>
            <a:ext cx="228600" cy="2286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074920" y="38404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Basic gesture recognition</a:t>
            </a:r>
            <a:endParaRPr lang="en-US" sz="14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4297680"/>
            <a:ext cx="228600" cy="22860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074920" y="42976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Driver safety monitoring (fatigue)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Concerns (Recital 44)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2801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Scientific Reliability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7280" y="1600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Emotions vary significantly across cultures and situations, even within a single individual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9456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1945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Discrimination Risk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097280" y="2514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lead to discriminatory outcomes and be intrusive to rights and freedoms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0896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31089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Imbalance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097280" y="3429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Particularly problematic in workplace and education contexts with authority dynamics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02336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97280" y="40233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Rights Impact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1097280" y="4343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lead to detrimental treatment of individuals or entire groups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Regulatory Treatment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</a:rPr>
              <a:t>Emotion recognition systems face TWO levels of regulation: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931920" cy="2743200"/>
          </a:xfrm>
          <a:prstGeom prst="rect">
            <a:avLst/>
          </a:prstGeom>
          <a:solidFill>
            <a:srgbClr val="EF4444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182880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834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PROHIBITED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32918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5(1)(f)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&amp; Education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(unless medical/safety exception)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54880" y="1554480"/>
            <a:ext cx="3931920" cy="2743200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828800"/>
            <a:ext cx="822960" cy="8229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37760" y="2834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</a:t>
            </a:r>
            <a:endParaRPr lang="en-US" sz="2800" dirty="0"/>
          </a:p>
        </p:txBody>
      </p:sp>
      <p:sp>
        <p:nvSpPr>
          <p:cNvPr id="11" name="Text 7"/>
          <p:cNvSpPr/>
          <p:nvPr/>
        </p:nvSpPr>
        <p:spPr>
          <a:xfrm>
            <a:off x="4937760" y="32918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 III, Point 1(c)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other emotion recognition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require strict compliance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Prohibited: Workplace &amp; Education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BANNED in these contexts (Article 5(1)(f))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288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377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</a:t>
            </a:r>
            <a:endParaRPr lang="en-US" sz="2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834640"/>
            <a:ext cx="182880" cy="182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28346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Employee emotion monitoring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54680"/>
            <a:ext cx="182880" cy="1828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31520" y="31546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Performance evaluation via emotions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474720"/>
            <a:ext cx="182880" cy="1828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31520" y="34747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Hiring/recruitment emotion assessment</a:t>
            </a:r>
            <a:endParaRPr lang="en-US" sz="13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794760"/>
            <a:ext cx="182880" cy="18288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31520" y="37947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Workplace surveillance</a:t>
            </a:r>
            <a:endParaRPr lang="en-US" sz="13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114800"/>
            <a:ext cx="182880" cy="18288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731520" y="41148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Customer service worker monitoring</a:t>
            </a:r>
            <a:endParaRPr lang="en-US" sz="130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2080" y="1828800"/>
            <a:ext cx="457200" cy="45720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4754880" y="2377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2000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2834640"/>
            <a:ext cx="182880" cy="18288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5029200" y="28346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Student emotion monitoring</a:t>
            </a:r>
            <a:endParaRPr lang="en-US" sz="1300" dirty="0"/>
          </a:p>
        </p:txBody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4880" y="3154680"/>
            <a:ext cx="182880" cy="182880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5029200" y="31546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Engagement tracking during classes</a:t>
            </a:r>
            <a:endParaRPr lang="en-US" sz="1300" dirty="0"/>
          </a:p>
        </p:txBody>
      </p:sp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4880" y="3474720"/>
            <a:ext cx="182880" cy="182880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5029200" y="34747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Emotion detection during exams</a:t>
            </a:r>
            <a:endParaRPr lang="en-US" sz="1300" dirty="0"/>
          </a:p>
        </p:txBody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54880" y="3794760"/>
            <a:ext cx="182880" cy="18288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5029200" y="37947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Educational outcome assessment</a:t>
            </a:r>
            <a:endParaRPr lang="en-US" sz="1300" dirty="0"/>
          </a:p>
        </p:txBody>
      </p:sp>
      <p:pic>
        <p:nvPicPr>
          <p:cNvPr id="2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54880" y="4114800"/>
            <a:ext cx="182880" cy="182880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5029200" y="41148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Teacher performance evaluation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Exception: Medical or Safety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</a:rPr>
              <a:t>The prohibition has ONE critical exception: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182880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PURPOSES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31089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Clinical diagnosis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Therapy monitoring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Mental health treatment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Patient distress detection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155448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828800"/>
            <a:ext cx="822960" cy="8229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3776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PURPOSES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5120640" y="31089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Driver/pilot fatigue monitoring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Industrial safety systems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Emergency responder alertness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Real-time safety-critical ops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Requirements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</a:rPr>
              <a:t>All non-prohibited emotion recognition systems must comply with: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931920" cy="105156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373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69164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2148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risk assessment &amp; mitigation (Article 9)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554480"/>
            <a:ext cx="3931920" cy="105156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69164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7373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69164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937760" y="2148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criteria, bias detection &amp; mitigation (Article 10)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2743200"/>
            <a:ext cx="3931920" cy="105156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288036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92608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43000" y="28803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Docs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40080" y="3337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documentation (Article 11, Annex IV)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754880" y="2743200"/>
            <a:ext cx="3931920" cy="105156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37760" y="288036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92608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40680" y="28803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4937760" y="3337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human review &amp; intervention (Article 14)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57200" y="3931920"/>
            <a:ext cx="3931920" cy="105156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40080" y="40690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11480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43000" y="40690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&amp; Security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640080" y="4526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performance standards &amp; cybersecurity (Article 15)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4754880" y="3931920"/>
            <a:ext cx="3931920" cy="105156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937760" y="40690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411480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440680" y="40690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4937760" y="4526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database registration before market placement (Article 49)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&amp; Penalties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solidFill>
            <a:srgbClr val="EF4444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64592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Prohibited Use Violation (Article 5)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463040" y="20116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€35 million or 7% of global annual turnover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463040" y="2377440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(whichever is higher)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926080"/>
            <a:ext cx="8229600" cy="128016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0040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320040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Non-Compliance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1463040" y="356616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€15 million or 3% of global annual turnover</a:t>
            </a:r>
            <a:endParaRPr lang="en-US" sz="2800" dirty="0"/>
          </a:p>
        </p:txBody>
      </p:sp>
      <p:sp>
        <p:nvSpPr>
          <p:cNvPr id="12" name="Text 8"/>
          <p:cNvSpPr/>
          <p:nvPr/>
        </p:nvSpPr>
        <p:spPr>
          <a:xfrm>
            <a:off x="1463040" y="3931920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(whichever is higher)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Consequences: Market access denial • Mandatory corrective actions • System withdrawal • Public disclosure • Reputational damage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Tree: Is Your System Allowed?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Does it identify/infer emotions from biometric data?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0" y="1828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</a:rPr>
              <a:t>NO → Not emotion recognition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8229600" cy="548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488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Is it used in WORKPLACE or EDUCATION?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27889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NO → HIGH-RISK (strict compliance required)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089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Is it for MEDICAL or SAFETY reasons?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28800" y="3749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YES → HIGH-RISK (allowed with compliance)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0" y="3749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NO → PROHIBITED ❌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42062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Exception is narrow - must be PRIMARY purpose, not dual-use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188720"/>
            <a:ext cx="7818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"Just detecting smiles" - If inferring happiness, it's emotion recognition</a:t>
            </a:r>
            <a:endParaRPr lang="en-US" sz="14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68680" y="1691640"/>
            <a:ext cx="7818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have consent" - Consent cannot override workplace/education ban</a:t>
            </a:r>
            <a:endParaRPr lang="en-US" sz="14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94560"/>
            <a:ext cx="274320" cy="274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68680" y="2194560"/>
            <a:ext cx="7818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"It's for wellness" - Workplace wellness ≠ medical exception unless truly therapeutic</a:t>
            </a:r>
            <a:endParaRPr lang="en-US" sz="14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697480"/>
            <a:ext cx="274320" cy="2743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68680" y="2697480"/>
            <a:ext cx="7818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"Safety training" - Training context is still workplace; exception is for real-time safety</a:t>
            </a:r>
            <a:endParaRPr lang="en-US" sz="14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200400"/>
            <a:ext cx="274320" cy="27432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868680" y="3200400"/>
            <a:ext cx="7818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"Research purposes" - Research in workplace/education still subject to prohibition</a:t>
            </a:r>
            <a:endParaRPr lang="en-US" sz="14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703320"/>
            <a:ext cx="274320" cy="27432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68680" y="3703320"/>
            <a:ext cx="7818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"It's only one factor" - Prohibition is absolute, not based on decision weight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743200" cy="3017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ALLOWED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Medical diagnosis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Therapy monitoring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safety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Consumer apps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Accessibility tools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29000" y="1371600"/>
            <a:ext cx="2743200" cy="3017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HIGH-RISK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11880" y="2103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Strict compliance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11880" y="2468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Registration required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11880" y="2834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Documentation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11880" y="3200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Human oversight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11880" y="3566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Post-market monitoring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0" y="1371600"/>
            <a:ext cx="2743200" cy="3017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PROHIBITED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83680" y="2103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Workplace monitoring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0" y="2468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Employee evaluation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0" y="2834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Student tracking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0" y="3200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Hiring assessment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83680" y="3566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Education engagement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Checklist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</a:rPr>
              <a:t>For High-Risk Emotion Recognition Systems: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Implement risk management system (Article 9)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8229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745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Establish data governance with bias mitigation (Article 10)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94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Create comprehensive technical documentation (Article 11)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514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Design human oversight mechanisms (Article 14)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346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Ensure accuracy &amp; cybersecurity standards (Article 15)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8229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1546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Undergo conformity assessment (Article 43)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474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Register in EU database (Article 49)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794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Implement post-market monitoring (Article 72)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1148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Prepare user transparency notifications (Article 26)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Document medical/safety exception if applicable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Guidance?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 with legal professionals familiar with EU AI Act requirements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71600" y="30175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European AI Office: digital-strategy.ec.europa.eu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National Competent Authorities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Commission Guidelines (expected within 18 months)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EU AI Act Full Text: Regulation (EU) 2024/1689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Emotion Recognition Systems Under the EU AI Act</dc:title>
  <dc:subject>PptxGenJS Presentation</dc:subject>
  <dc:creator>EU AI Act Compliance Team</dc:creator>
  <cp:lastModifiedBy>EU AI Act Compliance Team</cp:lastModifiedBy>
  <cp:revision>1</cp:revision>
  <dcterms:created xsi:type="dcterms:W3CDTF">2026-02-04T08:33:52Z</dcterms:created>
  <dcterms:modified xsi:type="dcterms:W3CDTF">2026-02-04T08:33:52Z</dcterms:modified>
</cp:coreProperties>
</file>